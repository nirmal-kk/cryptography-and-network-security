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67" r:id="rId4"/>
    <p:sldId id="268" r:id="rId5"/>
    <p:sldId id="259" r:id="rId6"/>
    <p:sldId id="265" r:id="rId7"/>
    <p:sldId id="261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F2354A-A12C-4E9B-BB12-B8800B2731A6}">
  <a:tblStyle styleId="{ADF2354A-A12C-4E9B-BB12-B8800B2731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1493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3205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443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553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014411" y="1315454"/>
            <a:ext cx="10431462" cy="2935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font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SocialBridge: An Algorithmic Framework for Community Detection and Influence Maximization in Large-Scale Social Networks Using Greedy Heuristics </a:t>
            </a:r>
            <a:b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CSA-0614 Design And Analysis Of Algorithms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658143" y="5709360"/>
            <a:ext cx="9144000" cy="1659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SIMATS </a:t>
            </a: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Engineering, SIMATS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3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1262" y="169862"/>
            <a:ext cx="10037762" cy="10302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CAPSTONE PROJECT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E8F6D-C754-4822-A25C-1EABE88F977A}"/>
              </a:ext>
            </a:extLst>
          </p:cNvPr>
          <p:cNvSpPr txBox="1"/>
          <p:nvPr/>
        </p:nvSpPr>
        <p:spPr>
          <a:xfrm>
            <a:off x="3781310" y="4362700"/>
            <a:ext cx="4629379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A. SAIRAM</a:t>
            </a:r>
          </a:p>
          <a:p>
            <a:pPr algn="ctr"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NIRMAL KASI (192424248)</a:t>
            </a:r>
          </a:p>
          <a:p>
            <a:pPr algn="ctr"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HARESH KUMAR N L (192425009)</a:t>
            </a:r>
          </a:p>
          <a:p>
            <a:pPr algn="ctr"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MOHAN KUMAR J (192424060)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403860" y="1841877"/>
            <a:ext cx="10949940" cy="385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creates a digital twin of enterprise infrastructure.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Hybrid cryptography ensures secure communication and data protection.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predict cyber attacks before they occur.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Attack simulations help identify vulnerabilities and security risks.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defense mechanisms automatically respond to threats.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improves cybersecurity, reliability, and operational efficiency.</a:t>
            </a:r>
          </a:p>
        </p:txBody>
      </p:sp>
      <p:pic>
        <p:nvPicPr>
          <p:cNvPr id="110" name="Google Shape;110;p15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319" y="67510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403860" y="1841876"/>
            <a:ext cx="10949940" cy="435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Modern enterprises depend on cloud services, IoT devices, and digital networks.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Cyber attacks such as ransomware, phishing, and DDoS attacks are increasing rapidly.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systems are reactive and respond only after an attack.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technology creates a virtual model of enterprise systems.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AI-driven analysis enables proactive threat prediction and prevention.</a:t>
            </a:r>
          </a:p>
        </p:txBody>
      </p:sp>
      <p:pic>
        <p:nvPicPr>
          <p:cNvPr id="110" name="Google Shape;110;p15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319" y="67510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680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Google Shape;110;p15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319" y="67510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  <p:sp>
        <p:nvSpPr>
          <p:cNvPr id="9" name="Google Shape;109;p15">
            <a:extLst>
              <a:ext uri="{FF2B5EF4-FFF2-40B4-BE49-F238E27FC236}">
                <a16:creationId xmlns:a16="http://schemas.microsoft.com/office/drawing/2014/main" id="{6F24E988-4ABF-42C5-940E-2F27790BC178}"/>
              </a:ext>
            </a:extLst>
          </p:cNvPr>
          <p:cNvSpPr txBox="1">
            <a:spLocks/>
          </p:cNvSpPr>
          <p:nvPr/>
        </p:nvSpPr>
        <p:spPr>
          <a:xfrm>
            <a:off x="403860" y="3646810"/>
            <a:ext cx="5692140" cy="2038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8ECF2-27D9-47EC-BD6C-C112690F0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403" y="2361301"/>
            <a:ext cx="10515599" cy="2714290"/>
          </a:xfrm>
        </p:spPr>
        <p:txBody>
          <a:bodyPr/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cannot accurately predict cyber attacks.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often requires manual intervention.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attack simulation capabilities.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Delayed response leads to financial and operational losses.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Complex enterprise environments are difficult to monitor and secure.</a:t>
            </a: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55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4400" b="1" i="0" u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1431108" y="1953224"/>
            <a:ext cx="9329784" cy="330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Create a digital twin of enterprise infrastructure.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 hybrid cryptography for secure communication.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Predict cyber threats using AI and machine learning.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Simulate cyber attacks in a virtual environment.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Automate threat detection and defense mechanisms.</a:t>
            </a:r>
          </a:p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 response time and security risks.</a:t>
            </a: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/>
          </a:p>
        </p:txBody>
      </p:sp>
      <p:pic>
        <p:nvPicPr>
          <p:cNvPr id="139" name="Google Shape;139;p18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562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AFE6C7-DAAF-4477-B35D-9FCA8D825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547049"/>
              </p:ext>
            </p:extLst>
          </p:nvPr>
        </p:nvGraphicFramePr>
        <p:xfrm>
          <a:off x="838201" y="1400175"/>
          <a:ext cx="7315200" cy="4590426"/>
        </p:xfrm>
        <a:graphic>
          <a:graphicData uri="http://schemas.openxmlformats.org/drawingml/2006/table">
            <a:tbl>
              <a:tblPr/>
              <a:tblGrid>
                <a:gridCol w="583748">
                  <a:extLst>
                    <a:ext uri="{9D8B030D-6E8A-4147-A177-3AD203B41FA5}">
                      <a16:colId xmlns:a16="http://schemas.microsoft.com/office/drawing/2014/main" val="1505183887"/>
                    </a:ext>
                  </a:extLst>
                </a:gridCol>
                <a:gridCol w="1894425">
                  <a:extLst>
                    <a:ext uri="{9D8B030D-6E8A-4147-A177-3AD203B41FA5}">
                      <a16:colId xmlns:a16="http://schemas.microsoft.com/office/drawing/2014/main" val="2203887011"/>
                    </a:ext>
                  </a:extLst>
                </a:gridCol>
                <a:gridCol w="1556659">
                  <a:extLst>
                    <a:ext uri="{9D8B030D-6E8A-4147-A177-3AD203B41FA5}">
                      <a16:colId xmlns:a16="http://schemas.microsoft.com/office/drawing/2014/main" val="144209755"/>
                    </a:ext>
                  </a:extLst>
                </a:gridCol>
                <a:gridCol w="1424491">
                  <a:extLst>
                    <a:ext uri="{9D8B030D-6E8A-4147-A177-3AD203B41FA5}">
                      <a16:colId xmlns:a16="http://schemas.microsoft.com/office/drawing/2014/main" val="2528518407"/>
                    </a:ext>
                  </a:extLst>
                </a:gridCol>
                <a:gridCol w="1855877">
                  <a:extLst>
                    <a:ext uri="{9D8B030D-6E8A-4147-A177-3AD203B41FA5}">
                      <a16:colId xmlns:a16="http://schemas.microsoft.com/office/drawing/2014/main" val="1733674893"/>
                    </a:ext>
                  </a:extLst>
                </a:gridCol>
              </a:tblGrid>
              <a:tr h="491852">
                <a:tc>
                  <a:txBody>
                    <a:bodyPr/>
                    <a:lstStyle/>
                    <a:p>
                      <a:r>
                        <a:rPr lang="en-US" sz="1200"/>
                        <a:t>S.No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Details of the Journal / Paper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Algorithm / Methodology Used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Advantages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Disadvantages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809949"/>
                  </a:ext>
                </a:extLst>
              </a:tr>
              <a:tr h="779905">
                <a:tc>
                  <a:txBody>
                    <a:bodyPr/>
                    <a:lstStyle/>
                    <a:p>
                      <a:r>
                        <a:rPr lang="en-US" sz="1200"/>
                        <a:t>1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Community Detection in Large Social Networks- 2022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Louvain Community Detection Algorithm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Detects high-quality communities with good scalability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Performance may vary depending on network structure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377400"/>
                  </a:ext>
                </a:extLst>
              </a:tr>
              <a:tr h="779905">
                <a:tc>
                  <a:txBody>
                    <a:bodyPr/>
                    <a:lstStyle/>
                    <a:p>
                      <a:r>
                        <a:rPr lang="en-US" sz="1200"/>
                        <a:t>2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Efficient Influence Maximization Using Greedy Strategies- 2023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Greedy Hill-Climbing Algorithm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Achieves near-optimal influence spread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Computationally expensive for very large networks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77476"/>
                  </a:ext>
                </a:extLst>
              </a:tr>
              <a:tr h="779905"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Scalable Community Detection in Dynamic Networks – 2023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Label Propagation Algorithm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Fast and suitable for large-scale graphs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Community assignments may be unstable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45491"/>
                  </a:ext>
                </a:extLst>
              </a:tr>
              <a:tr h="779905">
                <a:tc>
                  <a:txBody>
                    <a:bodyPr/>
                    <a:lstStyle/>
                    <a:p>
                      <a:r>
                        <a:rPr lang="en-US" sz="1200"/>
                        <a:t>4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Influence Maximization in Social Media Platforms – 2024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Independent Cascade (IC) Model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Realistically models information diffusion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Requires multiple simulations, increasing execution time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494674"/>
                  </a:ext>
                </a:extLst>
              </a:tr>
              <a:tr h="923932">
                <a:tc>
                  <a:txBody>
                    <a:bodyPr/>
                    <a:lstStyle/>
                    <a:p>
                      <a:r>
                        <a:rPr lang="en-US" sz="1200"/>
                        <a:t>5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SocialBridge: Community Detection and Influence Maximization Framework - 2025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Greedy Heuristic with Centrality Analysis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Efficient, scalable, and improves influencer selection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Performance depends on heuristic quality and network topology</a:t>
                      </a:r>
                    </a:p>
                  </a:txBody>
                  <a:tcPr marL="75895" marR="75895" marT="37948" marB="379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612251"/>
                  </a:ext>
                </a:extLst>
              </a:tr>
            </a:tbl>
          </a:graphicData>
        </a:graphic>
      </p:graphicFrame>
      <p:sp>
        <p:nvSpPr>
          <p:cNvPr id="8" name="Google Shape;119;p16">
            <a:extLst>
              <a:ext uri="{FF2B5EF4-FFF2-40B4-BE49-F238E27FC236}">
                <a16:creationId xmlns:a16="http://schemas.microsoft.com/office/drawing/2014/main" id="{B73A7A2E-8016-41C8-B1BC-522DF0131F6F}"/>
              </a:ext>
            </a:extLst>
          </p:cNvPr>
          <p:cNvSpPr txBox="1">
            <a:spLocks/>
          </p:cNvSpPr>
          <p:nvPr/>
        </p:nvSpPr>
        <p:spPr>
          <a:xfrm>
            <a:off x="8289924" y="1878346"/>
            <a:ext cx="3068701" cy="3592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Girvan-Newman Algorithm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Louvain Method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Label Propagation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Cascade Model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Linear Threshold Model</a:t>
            </a:r>
          </a:p>
        </p:txBody>
      </p:sp>
    </p:spTree>
    <p:extLst>
      <p:ext uri="{BB962C8B-B14F-4D97-AF65-F5344CB8AC3E}">
        <p14:creationId xmlns:p14="http://schemas.microsoft.com/office/powerpoint/2010/main" val="374020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chemeClr val="dk1"/>
              </a:buClr>
              <a:buSzPts val="4000"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562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4C41A1-03D5-4D0E-88E4-0019E7B3BD87}"/>
              </a:ext>
            </a:extLst>
          </p:cNvPr>
          <p:cNvSpPr/>
          <p:nvPr/>
        </p:nvSpPr>
        <p:spPr>
          <a:xfrm>
            <a:off x="1671637" y="2074416"/>
            <a:ext cx="88487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enterprise data from networks and devices.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Encrypt sensitive information using hybrid cryptography.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Create a virtual enterprise using digital twin technology.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Use AI algorithms to predict and analyze threats.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Simulate attack scenarios and identify vulnerabilities.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initiate defensive actions.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chemeClr val="dk1"/>
              </a:buClr>
              <a:buSzPts val="4000"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 (Simple)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9" name="Google Shape;139;p18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562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sp>
        <p:nvSpPr>
          <p:cNvPr id="11" name="Google Shape;119;p16">
            <a:extLst>
              <a:ext uri="{FF2B5EF4-FFF2-40B4-BE49-F238E27FC236}">
                <a16:creationId xmlns:a16="http://schemas.microsoft.com/office/drawing/2014/main" id="{9E614043-B54C-4CEB-B0FF-4840AD4C6D33}"/>
              </a:ext>
            </a:extLst>
          </p:cNvPr>
          <p:cNvSpPr txBox="1">
            <a:spLocks/>
          </p:cNvSpPr>
          <p:nvPr/>
        </p:nvSpPr>
        <p:spPr>
          <a:xfrm>
            <a:off x="6884235" y="2131845"/>
            <a:ext cx="3097965" cy="259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Graph Builder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Community Detector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Greedy Optimizer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Influence Analyzer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Result Generator</a:t>
            </a:r>
          </a:p>
        </p:txBody>
      </p:sp>
    </p:spTree>
    <p:extLst>
      <p:ext uri="{BB962C8B-B14F-4D97-AF65-F5344CB8AC3E}">
        <p14:creationId xmlns:p14="http://schemas.microsoft.com/office/powerpoint/2010/main" val="229082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11641</TotalTime>
  <Words>515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SocialBridge: An Algorithmic Framework for Community Detection and Influence Maximization in Large-Scale Social Networks Using Greedy Heuristics   CSA-0614 Design And Analysis Of Algorithms</vt:lpstr>
      <vt:lpstr>Abstract</vt:lpstr>
      <vt:lpstr>Introduction</vt:lpstr>
      <vt:lpstr>Problem Statement</vt:lpstr>
      <vt:lpstr>Objectives </vt:lpstr>
      <vt:lpstr>LITERATURE REVIEW </vt:lpstr>
      <vt:lpstr>Proposed System</vt:lpstr>
      <vt:lpstr>Proposed System Architecture (Simple)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Learning–Based Prediction of Homelessness Risk Using Housing, Income, and Demographic Indicators</dc:title>
  <dc:creator>El Nando</dc:creator>
  <cp:lastModifiedBy>cryo zero</cp:lastModifiedBy>
  <cp:revision>31</cp:revision>
  <dcterms:modified xsi:type="dcterms:W3CDTF">2026-08-04T03:59:40Z</dcterms:modified>
</cp:coreProperties>
</file>